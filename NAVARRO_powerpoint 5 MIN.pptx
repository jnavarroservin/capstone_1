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62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1C8312-7EF0-4275-9499-C53EE92F6A8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FC7A4D-C2C5-4610-9C35-038C8CF52C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Focus more on the products and stores that are already doing well to increase sales</a:t>
          </a:r>
          <a:r>
            <a:rPr lang="en-US" b="0" i="0" baseline="0"/>
            <a:t> </a:t>
          </a:r>
          <a:endParaRPr lang="en-US"/>
        </a:p>
      </dgm:t>
    </dgm:pt>
    <dgm:pt modelId="{3CF80DF8-A374-4372-8561-A78BCCBF86DE}" type="parTrans" cxnId="{A7E164A6-E1BF-4695-BEFB-590B743D2622}">
      <dgm:prSet/>
      <dgm:spPr/>
      <dgm:t>
        <a:bodyPr/>
        <a:lstStyle/>
        <a:p>
          <a:endParaRPr lang="en-US"/>
        </a:p>
      </dgm:t>
    </dgm:pt>
    <dgm:pt modelId="{6B91F2F0-7D14-481A-8A09-FA10B1EF944D}" type="sibTrans" cxnId="{A7E164A6-E1BF-4695-BEFB-590B743D2622}">
      <dgm:prSet/>
      <dgm:spPr/>
      <dgm:t>
        <a:bodyPr/>
        <a:lstStyle/>
        <a:p>
          <a:endParaRPr lang="en-US"/>
        </a:p>
      </dgm:t>
    </dgm:pt>
    <dgm:pt modelId="{01F2A301-D83D-494E-A235-185D2EED53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Expand into areas with higher populations to reach more customers</a:t>
          </a:r>
          <a:r>
            <a:rPr lang="en-US" b="0" i="0" baseline="0"/>
            <a:t> </a:t>
          </a:r>
          <a:endParaRPr lang="en-US"/>
        </a:p>
      </dgm:t>
    </dgm:pt>
    <dgm:pt modelId="{8D7E894A-70B9-4A06-9B78-BB1BAB5FB168}" type="parTrans" cxnId="{59BF31D5-5DA1-4A5C-90EA-DE66EDE62DE8}">
      <dgm:prSet/>
      <dgm:spPr/>
      <dgm:t>
        <a:bodyPr/>
        <a:lstStyle/>
        <a:p>
          <a:endParaRPr lang="en-US"/>
        </a:p>
      </dgm:t>
    </dgm:pt>
    <dgm:pt modelId="{E0F77C0F-D73F-4603-A34E-448A4E68C6FA}" type="sibTrans" cxnId="{59BF31D5-5DA1-4A5C-90EA-DE66EDE62DE8}">
      <dgm:prSet/>
      <dgm:spPr/>
      <dgm:t>
        <a:bodyPr/>
        <a:lstStyle/>
        <a:p>
          <a:endParaRPr lang="en-US"/>
        </a:p>
      </dgm:t>
    </dgm:pt>
    <dgm:pt modelId="{B7A09B6C-0A2C-47B6-A345-61C1A11877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Work on improving low-performing stores while staying competitive with other vendors</a:t>
          </a:r>
          <a:r>
            <a:rPr lang="en-US" b="0" i="0" baseline="0"/>
            <a:t> </a:t>
          </a:r>
          <a:endParaRPr lang="en-US"/>
        </a:p>
      </dgm:t>
    </dgm:pt>
    <dgm:pt modelId="{FCA8C869-D839-403A-86BE-575107C56284}" type="parTrans" cxnId="{E664CEC3-3D3D-44F3-AD90-7748F0BF2533}">
      <dgm:prSet/>
      <dgm:spPr/>
      <dgm:t>
        <a:bodyPr/>
        <a:lstStyle/>
        <a:p>
          <a:endParaRPr lang="en-US"/>
        </a:p>
      </dgm:t>
    </dgm:pt>
    <dgm:pt modelId="{56AB2546-D0A6-4CD2-A018-ACD3283809F2}" type="sibTrans" cxnId="{E664CEC3-3D3D-44F3-AD90-7748F0BF2533}">
      <dgm:prSet/>
      <dgm:spPr/>
      <dgm:t>
        <a:bodyPr/>
        <a:lstStyle/>
        <a:p>
          <a:endParaRPr lang="en-US"/>
        </a:p>
      </dgm:t>
    </dgm:pt>
    <dgm:pt modelId="{6D184044-F258-4330-AE90-95FD4C20BDF6}" type="pres">
      <dgm:prSet presAssocID="{3C1C8312-7EF0-4275-9499-C53EE92F6A8A}" presName="root" presStyleCnt="0">
        <dgm:presLayoutVars>
          <dgm:dir/>
          <dgm:resizeHandles val="exact"/>
        </dgm:presLayoutVars>
      </dgm:prSet>
      <dgm:spPr/>
    </dgm:pt>
    <dgm:pt modelId="{011482B7-17BC-48F8-A298-FC2E403D3206}" type="pres">
      <dgm:prSet presAssocID="{67FC7A4D-C2C5-4610-9C35-038C8CF52C8A}" presName="compNode" presStyleCnt="0"/>
      <dgm:spPr/>
    </dgm:pt>
    <dgm:pt modelId="{673B399A-24BC-43F1-88D3-C38D3CC4EAD5}" type="pres">
      <dgm:prSet presAssocID="{67FC7A4D-C2C5-4610-9C35-038C8CF52C8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F8DC777-E05A-4AAF-A5A0-B11C65520818}" type="pres">
      <dgm:prSet presAssocID="{67FC7A4D-C2C5-4610-9C35-038C8CF52C8A}" presName="spaceRect" presStyleCnt="0"/>
      <dgm:spPr/>
    </dgm:pt>
    <dgm:pt modelId="{D51213E3-4CFB-4435-8EAA-1A82562CA111}" type="pres">
      <dgm:prSet presAssocID="{67FC7A4D-C2C5-4610-9C35-038C8CF52C8A}" presName="textRect" presStyleLbl="revTx" presStyleIdx="0" presStyleCnt="3">
        <dgm:presLayoutVars>
          <dgm:chMax val="1"/>
          <dgm:chPref val="1"/>
        </dgm:presLayoutVars>
      </dgm:prSet>
      <dgm:spPr/>
    </dgm:pt>
    <dgm:pt modelId="{D7481D17-051F-41DD-8992-38250F634780}" type="pres">
      <dgm:prSet presAssocID="{6B91F2F0-7D14-481A-8A09-FA10B1EF944D}" presName="sibTrans" presStyleCnt="0"/>
      <dgm:spPr/>
    </dgm:pt>
    <dgm:pt modelId="{07345F9F-65BB-40EA-92E4-C21BB5B98CB3}" type="pres">
      <dgm:prSet presAssocID="{01F2A301-D83D-494E-A235-185D2EED53FE}" presName="compNode" presStyleCnt="0"/>
      <dgm:spPr/>
    </dgm:pt>
    <dgm:pt modelId="{48D1CAF1-9AD6-40A4-8550-40950E7BC7BA}" type="pres">
      <dgm:prSet presAssocID="{01F2A301-D83D-494E-A235-185D2EED53F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A4172157-F7F3-4065-AF24-A7FAE9BE85C9}" type="pres">
      <dgm:prSet presAssocID="{01F2A301-D83D-494E-A235-185D2EED53FE}" presName="spaceRect" presStyleCnt="0"/>
      <dgm:spPr/>
    </dgm:pt>
    <dgm:pt modelId="{8963DFCB-BC54-4921-803C-5A53D142BC9C}" type="pres">
      <dgm:prSet presAssocID="{01F2A301-D83D-494E-A235-185D2EED53FE}" presName="textRect" presStyleLbl="revTx" presStyleIdx="1" presStyleCnt="3">
        <dgm:presLayoutVars>
          <dgm:chMax val="1"/>
          <dgm:chPref val="1"/>
        </dgm:presLayoutVars>
      </dgm:prSet>
      <dgm:spPr/>
    </dgm:pt>
    <dgm:pt modelId="{4177637D-B1D6-451B-99A4-3D33B366BE01}" type="pres">
      <dgm:prSet presAssocID="{E0F77C0F-D73F-4603-A34E-448A4E68C6FA}" presName="sibTrans" presStyleCnt="0"/>
      <dgm:spPr/>
    </dgm:pt>
    <dgm:pt modelId="{5AB184EF-406C-4BBA-9A70-FD8B723BE2DD}" type="pres">
      <dgm:prSet presAssocID="{B7A09B6C-0A2C-47B6-A345-61C1A1187749}" presName="compNode" presStyleCnt="0"/>
      <dgm:spPr/>
    </dgm:pt>
    <dgm:pt modelId="{2488F7B7-E30B-4A39-A4D2-F6C0A6081A82}" type="pres">
      <dgm:prSet presAssocID="{B7A09B6C-0A2C-47B6-A345-61C1A118774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BE9EEBC-AFDD-4DBC-8EA8-D3690A76933E}" type="pres">
      <dgm:prSet presAssocID="{B7A09B6C-0A2C-47B6-A345-61C1A1187749}" presName="spaceRect" presStyleCnt="0"/>
      <dgm:spPr/>
    </dgm:pt>
    <dgm:pt modelId="{FB5D694C-4502-4CA4-B718-28C772BE3C66}" type="pres">
      <dgm:prSet presAssocID="{B7A09B6C-0A2C-47B6-A345-61C1A118774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13F6665-C564-4652-881D-A65322E99F66}" type="presOf" srcId="{67FC7A4D-C2C5-4610-9C35-038C8CF52C8A}" destId="{D51213E3-4CFB-4435-8EAA-1A82562CA111}" srcOrd="0" destOrd="0" presId="urn:microsoft.com/office/officeart/2018/2/layout/IconLabelList"/>
    <dgm:cxn modelId="{A7B1DE7A-83B8-4971-8943-DC98522AF354}" type="presOf" srcId="{B7A09B6C-0A2C-47B6-A345-61C1A1187749}" destId="{FB5D694C-4502-4CA4-B718-28C772BE3C66}" srcOrd="0" destOrd="0" presId="urn:microsoft.com/office/officeart/2018/2/layout/IconLabelList"/>
    <dgm:cxn modelId="{29717990-E860-4B1D-9420-36020FFB5A3D}" type="presOf" srcId="{3C1C8312-7EF0-4275-9499-C53EE92F6A8A}" destId="{6D184044-F258-4330-AE90-95FD4C20BDF6}" srcOrd="0" destOrd="0" presId="urn:microsoft.com/office/officeart/2018/2/layout/IconLabelList"/>
    <dgm:cxn modelId="{A7E164A6-E1BF-4695-BEFB-590B743D2622}" srcId="{3C1C8312-7EF0-4275-9499-C53EE92F6A8A}" destId="{67FC7A4D-C2C5-4610-9C35-038C8CF52C8A}" srcOrd="0" destOrd="0" parTransId="{3CF80DF8-A374-4372-8561-A78BCCBF86DE}" sibTransId="{6B91F2F0-7D14-481A-8A09-FA10B1EF944D}"/>
    <dgm:cxn modelId="{E664CEC3-3D3D-44F3-AD90-7748F0BF2533}" srcId="{3C1C8312-7EF0-4275-9499-C53EE92F6A8A}" destId="{B7A09B6C-0A2C-47B6-A345-61C1A1187749}" srcOrd="2" destOrd="0" parTransId="{FCA8C869-D839-403A-86BE-575107C56284}" sibTransId="{56AB2546-D0A6-4CD2-A018-ACD3283809F2}"/>
    <dgm:cxn modelId="{59BF31D5-5DA1-4A5C-90EA-DE66EDE62DE8}" srcId="{3C1C8312-7EF0-4275-9499-C53EE92F6A8A}" destId="{01F2A301-D83D-494E-A235-185D2EED53FE}" srcOrd="1" destOrd="0" parTransId="{8D7E894A-70B9-4A06-9B78-BB1BAB5FB168}" sibTransId="{E0F77C0F-D73F-4603-A34E-448A4E68C6FA}"/>
    <dgm:cxn modelId="{0E3123E3-AF42-4501-A7CF-86F02BC46B75}" type="presOf" srcId="{01F2A301-D83D-494E-A235-185D2EED53FE}" destId="{8963DFCB-BC54-4921-803C-5A53D142BC9C}" srcOrd="0" destOrd="0" presId="urn:microsoft.com/office/officeart/2018/2/layout/IconLabelList"/>
    <dgm:cxn modelId="{0B3DA8B8-5E3D-4CF4-9FAE-69D79AACA3F5}" type="presParOf" srcId="{6D184044-F258-4330-AE90-95FD4C20BDF6}" destId="{011482B7-17BC-48F8-A298-FC2E403D3206}" srcOrd="0" destOrd="0" presId="urn:microsoft.com/office/officeart/2018/2/layout/IconLabelList"/>
    <dgm:cxn modelId="{B73D6B4D-B122-44DD-9695-FD11136254C8}" type="presParOf" srcId="{011482B7-17BC-48F8-A298-FC2E403D3206}" destId="{673B399A-24BC-43F1-88D3-C38D3CC4EAD5}" srcOrd="0" destOrd="0" presId="urn:microsoft.com/office/officeart/2018/2/layout/IconLabelList"/>
    <dgm:cxn modelId="{EDE3D61C-EEC2-43BA-8226-12F5090C5417}" type="presParOf" srcId="{011482B7-17BC-48F8-A298-FC2E403D3206}" destId="{4F8DC777-E05A-4AAF-A5A0-B11C65520818}" srcOrd="1" destOrd="0" presId="urn:microsoft.com/office/officeart/2018/2/layout/IconLabelList"/>
    <dgm:cxn modelId="{7E3E9699-18BF-4182-B2AB-19019A9AD4A0}" type="presParOf" srcId="{011482B7-17BC-48F8-A298-FC2E403D3206}" destId="{D51213E3-4CFB-4435-8EAA-1A82562CA111}" srcOrd="2" destOrd="0" presId="urn:microsoft.com/office/officeart/2018/2/layout/IconLabelList"/>
    <dgm:cxn modelId="{2DB4BE1C-A9B2-4FE0-8B92-D4A982B3DEDB}" type="presParOf" srcId="{6D184044-F258-4330-AE90-95FD4C20BDF6}" destId="{D7481D17-051F-41DD-8992-38250F634780}" srcOrd="1" destOrd="0" presId="urn:microsoft.com/office/officeart/2018/2/layout/IconLabelList"/>
    <dgm:cxn modelId="{757E886B-DFAF-4169-9292-8CC4A80F985D}" type="presParOf" srcId="{6D184044-F258-4330-AE90-95FD4C20BDF6}" destId="{07345F9F-65BB-40EA-92E4-C21BB5B98CB3}" srcOrd="2" destOrd="0" presId="urn:microsoft.com/office/officeart/2018/2/layout/IconLabelList"/>
    <dgm:cxn modelId="{4EACF7E7-9E77-4690-8F4F-01B9F075D16B}" type="presParOf" srcId="{07345F9F-65BB-40EA-92E4-C21BB5B98CB3}" destId="{48D1CAF1-9AD6-40A4-8550-40950E7BC7BA}" srcOrd="0" destOrd="0" presId="urn:microsoft.com/office/officeart/2018/2/layout/IconLabelList"/>
    <dgm:cxn modelId="{90410D30-FAD3-4576-9F04-658E89991F38}" type="presParOf" srcId="{07345F9F-65BB-40EA-92E4-C21BB5B98CB3}" destId="{A4172157-F7F3-4065-AF24-A7FAE9BE85C9}" srcOrd="1" destOrd="0" presId="urn:microsoft.com/office/officeart/2018/2/layout/IconLabelList"/>
    <dgm:cxn modelId="{59D9A6C8-AB01-4538-A0C5-1CC138ED4F63}" type="presParOf" srcId="{07345F9F-65BB-40EA-92E4-C21BB5B98CB3}" destId="{8963DFCB-BC54-4921-803C-5A53D142BC9C}" srcOrd="2" destOrd="0" presId="urn:microsoft.com/office/officeart/2018/2/layout/IconLabelList"/>
    <dgm:cxn modelId="{2F7DE96D-D948-4538-85AB-74D3836C845E}" type="presParOf" srcId="{6D184044-F258-4330-AE90-95FD4C20BDF6}" destId="{4177637D-B1D6-451B-99A4-3D33B366BE01}" srcOrd="3" destOrd="0" presId="urn:microsoft.com/office/officeart/2018/2/layout/IconLabelList"/>
    <dgm:cxn modelId="{11C4B5ED-1BBD-40E5-A36D-AF1D551CFAE2}" type="presParOf" srcId="{6D184044-F258-4330-AE90-95FD4C20BDF6}" destId="{5AB184EF-406C-4BBA-9A70-FD8B723BE2DD}" srcOrd="4" destOrd="0" presId="urn:microsoft.com/office/officeart/2018/2/layout/IconLabelList"/>
    <dgm:cxn modelId="{797FB569-9410-485A-A967-DE01FD6E8441}" type="presParOf" srcId="{5AB184EF-406C-4BBA-9A70-FD8B723BE2DD}" destId="{2488F7B7-E30B-4A39-A4D2-F6C0A6081A82}" srcOrd="0" destOrd="0" presId="urn:microsoft.com/office/officeart/2018/2/layout/IconLabelList"/>
    <dgm:cxn modelId="{5E466F53-05D7-44B9-8B80-E3AB893C5A72}" type="presParOf" srcId="{5AB184EF-406C-4BBA-9A70-FD8B723BE2DD}" destId="{6BE9EEBC-AFDD-4DBC-8EA8-D3690A76933E}" srcOrd="1" destOrd="0" presId="urn:microsoft.com/office/officeart/2018/2/layout/IconLabelList"/>
    <dgm:cxn modelId="{36C98A7F-D4E0-4447-8750-107CF61DE56B}" type="presParOf" srcId="{5AB184EF-406C-4BBA-9A70-FD8B723BE2DD}" destId="{FB5D694C-4502-4CA4-B718-28C772BE3C6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3B399A-24BC-43F1-88D3-C38D3CC4EAD5}">
      <dsp:nvSpPr>
        <dsp:cNvPr id="0" name=""/>
        <dsp:cNvSpPr/>
      </dsp:nvSpPr>
      <dsp:spPr>
        <a:xfrm>
          <a:off x="880668" y="602155"/>
          <a:ext cx="1435167" cy="143516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1213E3-4CFB-4435-8EAA-1A82562CA111}">
      <dsp:nvSpPr>
        <dsp:cNvPr id="0" name=""/>
        <dsp:cNvSpPr/>
      </dsp:nvSpPr>
      <dsp:spPr>
        <a:xfrm>
          <a:off x="3621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Focus more on the products and stores that are already doing well to increase sales</a:t>
          </a:r>
          <a:r>
            <a:rPr lang="en-US" sz="1500" b="0" i="0" kern="1200" baseline="0"/>
            <a:t> </a:t>
          </a:r>
          <a:endParaRPr lang="en-US" sz="1500" kern="1200"/>
        </a:p>
      </dsp:txBody>
      <dsp:txXfrm>
        <a:off x="3621" y="2417740"/>
        <a:ext cx="3189260" cy="720000"/>
      </dsp:txXfrm>
    </dsp:sp>
    <dsp:sp modelId="{48D1CAF1-9AD6-40A4-8550-40950E7BC7BA}">
      <dsp:nvSpPr>
        <dsp:cNvPr id="0" name=""/>
        <dsp:cNvSpPr/>
      </dsp:nvSpPr>
      <dsp:spPr>
        <a:xfrm>
          <a:off x="4628048" y="602155"/>
          <a:ext cx="1435167" cy="143516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3DFCB-BC54-4921-803C-5A53D142BC9C}">
      <dsp:nvSpPr>
        <dsp:cNvPr id="0" name=""/>
        <dsp:cNvSpPr/>
      </dsp:nvSpPr>
      <dsp:spPr>
        <a:xfrm>
          <a:off x="3751002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Expand into areas with higher populations to reach more customers</a:t>
          </a:r>
          <a:r>
            <a:rPr lang="en-US" sz="1500" b="0" i="0" kern="1200" baseline="0"/>
            <a:t> </a:t>
          </a:r>
          <a:endParaRPr lang="en-US" sz="1500" kern="1200"/>
        </a:p>
      </dsp:txBody>
      <dsp:txXfrm>
        <a:off x="3751002" y="2417740"/>
        <a:ext cx="3189260" cy="720000"/>
      </dsp:txXfrm>
    </dsp:sp>
    <dsp:sp modelId="{2488F7B7-E30B-4A39-A4D2-F6C0A6081A82}">
      <dsp:nvSpPr>
        <dsp:cNvPr id="0" name=""/>
        <dsp:cNvSpPr/>
      </dsp:nvSpPr>
      <dsp:spPr>
        <a:xfrm>
          <a:off x="8375429" y="602155"/>
          <a:ext cx="1435167" cy="143516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5D694C-4502-4CA4-B718-28C772BE3C66}">
      <dsp:nvSpPr>
        <dsp:cNvPr id="0" name=""/>
        <dsp:cNvSpPr/>
      </dsp:nvSpPr>
      <dsp:spPr>
        <a:xfrm>
          <a:off x="7498383" y="2417740"/>
          <a:ext cx="31892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Work on improving low-performing stores while staying competitive with other vendors</a:t>
          </a:r>
          <a:r>
            <a:rPr lang="en-US" sz="1500" b="0" i="0" kern="1200" baseline="0"/>
            <a:t> </a:t>
          </a:r>
          <a:endParaRPr lang="en-US" sz="1500" kern="1200"/>
        </a:p>
      </dsp:txBody>
      <dsp:txXfrm>
        <a:off x="7498383" y="2417740"/>
        <a:ext cx="318926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49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3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32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833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53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218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131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99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124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92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64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95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1" name="Rectangle 1060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62" name="Rectangle 1061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EDCF29-6E5C-BE38-3EF7-F546E782A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3620882" cy="3640345"/>
          </a:xfrm>
        </p:spPr>
        <p:txBody>
          <a:bodyPr anchor="t">
            <a:normAutofit/>
          </a:bodyPr>
          <a:lstStyle/>
          <a:p>
            <a:r>
              <a:rPr lang="en-US" sz="4000" dirty="0"/>
              <a:t>IOWA CAPSTONE: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Pernod Ricard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1A432B-70DD-1D5A-1519-B3C959B37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4945712"/>
            <a:ext cx="3380437" cy="850392"/>
          </a:xfrm>
        </p:spPr>
        <p:txBody>
          <a:bodyPr anchor="b">
            <a:normAutofit/>
          </a:bodyPr>
          <a:lstStyle/>
          <a:p>
            <a:r>
              <a:rPr lang="en-US" sz="1800" dirty="0"/>
              <a:t>Jessica Navarro</a:t>
            </a:r>
          </a:p>
        </p:txBody>
      </p:sp>
      <p:cxnSp>
        <p:nvCxnSpPr>
          <p:cNvPr id="1060" name="Straight Connector 105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 descr="Pernod Ricard Nine-Month Sales Up, Optimistic Despite Drop in Q3 -  BevNET.com">
            <a:extLst>
              <a:ext uri="{FF2B5EF4-FFF2-40B4-BE49-F238E27FC236}">
                <a16:creationId xmlns:a16="http://schemas.microsoft.com/office/drawing/2014/main" id="{19C6B598-34BA-B5F2-141B-05D43DE7A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8" r="2" b="2"/>
          <a:stretch>
            <a:fillRect/>
          </a:stretch>
        </p:blipFill>
        <p:spPr bwMode="auto">
          <a:xfrm>
            <a:off x="4876158" y="10"/>
            <a:ext cx="731584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40881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B0350-4FD9-4F10-3835-E0F26649C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SCENERIO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49AEA-C09C-4B33-A907-009C57E5E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looked at the Pernod Ricard sales database to see how our alcohol products are performing. I focused on what’s doing well, what needs improvement, and where there’s room to grow.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takes into consideration population, competitors, and which products are our best performers or “hero product”.</a:t>
            </a:r>
          </a:p>
        </p:txBody>
      </p:sp>
    </p:spTree>
    <p:extLst>
      <p:ext uri="{BB962C8B-B14F-4D97-AF65-F5344CB8AC3E}">
        <p14:creationId xmlns:p14="http://schemas.microsoft.com/office/powerpoint/2010/main" val="1888579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814C4-7932-71B0-7E08-F23CFBD8E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 STATS FOR DB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7F7E8A-338E-15CB-FE1A-81FF66707B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9208440"/>
              </p:ext>
            </p:extLst>
          </p:nvPr>
        </p:nvGraphicFramePr>
        <p:xfrm>
          <a:off x="905123" y="6189345"/>
          <a:ext cx="10691812" cy="668655"/>
        </p:xfrm>
        <a:graphic>
          <a:graphicData uri="http://schemas.openxmlformats.org/drawingml/2006/table">
            <a:tbl>
              <a:tblPr/>
              <a:tblGrid>
                <a:gridCol w="10691812">
                  <a:extLst>
                    <a:ext uri="{9D8B030D-6E8A-4147-A177-3AD203B41FA5}">
                      <a16:colId xmlns:a16="http://schemas.microsoft.com/office/drawing/2014/main" val="6591231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DESCRIPTION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141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45828725"/>
                  </a:ext>
                </a:extLst>
              </a:tr>
            </a:tbl>
          </a:graphicData>
        </a:graphic>
      </p:graphicFrame>
      <p:pic>
        <p:nvPicPr>
          <p:cNvPr id="6" name="Graphic 5" descr="Coins outline">
            <a:extLst>
              <a:ext uri="{FF2B5EF4-FFF2-40B4-BE49-F238E27FC236}">
                <a16:creationId xmlns:a16="http://schemas.microsoft.com/office/drawing/2014/main" id="{2EF514B5-58F7-B347-45AD-6AA220DEA5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8167" y="1720740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47D816-BEB5-01F1-8E92-56582B7CFC35}"/>
              </a:ext>
            </a:extLst>
          </p:cNvPr>
          <p:cNvSpPr txBox="1"/>
          <p:nvPr/>
        </p:nvSpPr>
        <p:spPr>
          <a:xfrm>
            <a:off x="2371167" y="1711810"/>
            <a:ext cx="21388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REVENUE :  $28,157,424.53</a:t>
            </a:r>
          </a:p>
        </p:txBody>
      </p:sp>
      <p:pic>
        <p:nvPicPr>
          <p:cNvPr id="9" name="Graphic 8" descr="Tag with solid fill">
            <a:extLst>
              <a:ext uri="{FF2B5EF4-FFF2-40B4-BE49-F238E27FC236}">
                <a16:creationId xmlns:a16="http://schemas.microsoft.com/office/drawing/2014/main" id="{22304177-61DB-37C1-BB5B-5EB13965B0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0958" y="2971800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717EBF-D813-9849-28E8-0B00C9E96FD5}"/>
              </a:ext>
            </a:extLst>
          </p:cNvPr>
          <p:cNvSpPr txBox="1"/>
          <p:nvPr/>
        </p:nvSpPr>
        <p:spPr>
          <a:xfrm>
            <a:off x="2478853" y="3154545"/>
            <a:ext cx="2649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</a:t>
            </a:r>
          </a:p>
          <a:p>
            <a:r>
              <a:rPr lang="en-US" dirty="0"/>
              <a:t>PRICE:  $18.08</a:t>
            </a:r>
          </a:p>
        </p:txBody>
      </p:sp>
      <p:pic>
        <p:nvPicPr>
          <p:cNvPr id="12" name="Graphic 11" descr="Store outline">
            <a:extLst>
              <a:ext uri="{FF2B5EF4-FFF2-40B4-BE49-F238E27FC236}">
                <a16:creationId xmlns:a16="http://schemas.microsoft.com/office/drawing/2014/main" id="{99D2168C-2E82-E0CF-C155-A9A3EEFB7D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89864" y="1820461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5C569DB-910D-3062-3508-051643310B61}"/>
              </a:ext>
            </a:extLst>
          </p:cNvPr>
          <p:cNvSpPr txBox="1"/>
          <p:nvPr/>
        </p:nvSpPr>
        <p:spPr>
          <a:xfrm>
            <a:off x="7476565" y="1899483"/>
            <a:ext cx="1492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STORES:  1,321</a:t>
            </a:r>
          </a:p>
        </p:txBody>
      </p:sp>
      <p:pic>
        <p:nvPicPr>
          <p:cNvPr id="15" name="Graphic 14" descr="Abacus outline">
            <a:extLst>
              <a:ext uri="{FF2B5EF4-FFF2-40B4-BE49-F238E27FC236}">
                <a16:creationId xmlns:a16="http://schemas.microsoft.com/office/drawing/2014/main" id="{4CDD80B5-E37A-93F3-94F9-47A2D247F7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9864" y="3010114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2CAB7DD-EE1D-A269-0743-06E57A898F68}"/>
              </a:ext>
            </a:extLst>
          </p:cNvPr>
          <p:cNvSpPr txBox="1"/>
          <p:nvPr/>
        </p:nvSpPr>
        <p:spPr>
          <a:xfrm>
            <a:off x="7304264" y="3304555"/>
            <a:ext cx="3815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TRANSACTIONS: 192,592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D4B5B-12E8-8348-C646-4DF18CE11FA8}"/>
              </a:ext>
            </a:extLst>
          </p:cNvPr>
          <p:cNvSpPr txBox="1"/>
          <p:nvPr/>
        </p:nvSpPr>
        <p:spPr>
          <a:xfrm>
            <a:off x="4902498" y="4683911"/>
            <a:ext cx="31945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PRODUCT AMOUNT: 599</a:t>
            </a:r>
          </a:p>
        </p:txBody>
      </p:sp>
      <p:pic>
        <p:nvPicPr>
          <p:cNvPr id="20" name="Graphic 19" descr="Bottle with solid fill">
            <a:extLst>
              <a:ext uri="{FF2B5EF4-FFF2-40B4-BE49-F238E27FC236}">
                <a16:creationId xmlns:a16="http://schemas.microsoft.com/office/drawing/2014/main" id="{B22337DA-1482-0EB8-2E43-F00A2189EB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52822" y="438711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36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CB48D-CFFC-DEE0-A100-FCA3C356F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ANALYSIS 1 STRENGTHS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F6BDE0-FAF1-BB2C-4E5D-D1501562A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223009"/>
            <a:ext cx="7353299" cy="4411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13A113-0D62-618A-2202-CCEDBA851410}"/>
              </a:ext>
            </a:extLst>
          </p:cNvPr>
          <p:cNvSpPr txBox="1"/>
          <p:nvPr/>
        </p:nvSpPr>
        <p:spPr>
          <a:xfrm>
            <a:off x="1059361" y="3348887"/>
            <a:ext cx="2702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Highlights top 10 and most popular product</a:t>
            </a:r>
          </a:p>
        </p:txBody>
      </p:sp>
    </p:spTree>
    <p:extLst>
      <p:ext uri="{BB962C8B-B14F-4D97-AF65-F5344CB8AC3E}">
        <p14:creationId xmlns:p14="http://schemas.microsoft.com/office/powerpoint/2010/main" val="338642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41BFA31-6544-45C2-9DA0-9E1C5E0B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5A5246-4704-D053-7849-24E54BA59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661" y="5849055"/>
            <a:ext cx="8070302" cy="9259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dirty="0"/>
              <a:t>ANALYSIS 2 WEAKNESSES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6F49A1-1790-2B37-B5C6-DB390B420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193"/>
            <a:ext cx="6206376" cy="33669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3FD688-53E7-6DDD-6F89-1D4BCD9F6F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920" y="119193"/>
            <a:ext cx="5730990" cy="3366958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C36F877-5419-44C1-A2CD-376BDDDC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667603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4E4D19D-BDC9-E491-5117-48EB99DC4BB8}"/>
              </a:ext>
            </a:extLst>
          </p:cNvPr>
          <p:cNvSpPr txBox="1"/>
          <p:nvPr/>
        </p:nvSpPr>
        <p:spPr>
          <a:xfrm>
            <a:off x="4784911" y="4926801"/>
            <a:ext cx="2622177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Worst performing store</a:t>
            </a:r>
          </a:p>
        </p:txBody>
      </p:sp>
    </p:spTree>
    <p:extLst>
      <p:ext uri="{BB962C8B-B14F-4D97-AF65-F5344CB8AC3E}">
        <p14:creationId xmlns:p14="http://schemas.microsoft.com/office/powerpoint/2010/main" val="938062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617AA-6AA7-E022-6A61-810320691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793347"/>
            <a:ext cx="10691265" cy="1307592"/>
          </a:xfrm>
        </p:spPr>
        <p:txBody>
          <a:bodyPr/>
          <a:lstStyle/>
          <a:p>
            <a:r>
              <a:rPr lang="en-US" dirty="0"/>
              <a:t>ANALYSIS 3 OPPORTUNITIES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3C120F-149B-60B3-FB61-694EDB81A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35" y="1447143"/>
            <a:ext cx="10354988" cy="54108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091D75-63A9-4957-75BD-AC98F1F30292}"/>
              </a:ext>
            </a:extLst>
          </p:cNvPr>
          <p:cNvSpPr txBox="1"/>
          <p:nvPr/>
        </p:nvSpPr>
        <p:spPr>
          <a:xfrm>
            <a:off x="7394028" y="394138"/>
            <a:ext cx="4097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population vs sales</a:t>
            </a:r>
            <a:br>
              <a:rPr lang="en-US" dirty="0"/>
            </a:br>
            <a:r>
              <a:rPr lang="en-US" dirty="0"/>
              <a:t>SHOWS GROWTH POTENTIAL</a:t>
            </a:r>
          </a:p>
        </p:txBody>
      </p:sp>
    </p:spTree>
    <p:extLst>
      <p:ext uri="{BB962C8B-B14F-4D97-AF65-F5344CB8AC3E}">
        <p14:creationId xmlns:p14="http://schemas.microsoft.com/office/powerpoint/2010/main" val="2200315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F48E95-FFAB-D053-9031-F5D63F1FA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ANALYSIS 4 THREATS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0F3BCE-5A1D-4AEA-611A-3BEC98C4F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919685"/>
            <a:ext cx="7353299" cy="50186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B77FA6-8A2B-DD9E-89FA-009D4E60E3B5}"/>
              </a:ext>
            </a:extLst>
          </p:cNvPr>
          <p:cNvSpPr txBox="1"/>
          <p:nvPr/>
        </p:nvSpPr>
        <p:spPr>
          <a:xfrm>
            <a:off x="526175" y="2903975"/>
            <a:ext cx="3635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Who is out performing me?</a:t>
            </a:r>
          </a:p>
        </p:txBody>
      </p:sp>
    </p:spTree>
    <p:extLst>
      <p:ext uri="{BB962C8B-B14F-4D97-AF65-F5344CB8AC3E}">
        <p14:creationId xmlns:p14="http://schemas.microsoft.com/office/powerpoint/2010/main" val="1448342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37D22-4005-CF7D-5232-48B66AD10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SUMMARY/RECOMMENDATIONS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EE30036-3815-F48A-353C-523FCAD8A40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093445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168</Words>
  <Application>Microsoft Office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Calisto MT</vt:lpstr>
      <vt:lpstr>Segoe UI</vt:lpstr>
      <vt:lpstr>Univers Condensed</vt:lpstr>
      <vt:lpstr>ChronicleVTI</vt:lpstr>
      <vt:lpstr>IOWA CAPSTONE:  Pernod Ricard </vt:lpstr>
      <vt:lpstr>SCENERIO</vt:lpstr>
      <vt:lpstr>SUMMARY STATS FOR DB</vt:lpstr>
      <vt:lpstr>ANALYSIS 1 STRENGTHS</vt:lpstr>
      <vt:lpstr>ANALYSIS 2 WEAKNESSES</vt:lpstr>
      <vt:lpstr>ANALYSIS 3 OPPORTUNITIES</vt:lpstr>
      <vt:lpstr>ANALYSIS 4 THREATS</vt:lpstr>
      <vt:lpstr>SUMMARY/RECOMMENDATIONS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jessica navarroservin</dc:creator>
  <cp:lastModifiedBy>jessica navarroservin</cp:lastModifiedBy>
  <cp:revision>1</cp:revision>
  <dcterms:created xsi:type="dcterms:W3CDTF">2026-05-01T09:30:48Z</dcterms:created>
  <dcterms:modified xsi:type="dcterms:W3CDTF">2026-05-01T14:03:19Z</dcterms:modified>
</cp:coreProperties>
</file>